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810810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de capa. Apresentar o tema: análise de sentimentos incorporada ao agente de vendas inteligente.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 que NLP é uma área da IA que ensina computadores a entenderem linguagem humana. A análise de sentimentos é uma das aplicações mais usadas no mundo real.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Mostre o passo a passo de forma didática. Enfatize que o prompt instrucional força a IA a retornar APENAS uma palavra, o que facilita o processamento pelo nó IF.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 cada nó. Destaque que a temperatura 0 faz o modelo ser mais preciso e consistente na classificação.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Demonstre AO VIVO os dois cenários. Digite a mensagem positiva, mostre que o fluxo continua normal. Depois a negativa, mostre o e-mail chegando.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Encerre reconhecendo as limitações mas destacando o que foi conquistado. Mostre maturidade técnica ao discutir os trade-offs do método escolhido.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F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371600"/>
            <a:ext cx="4572000" cy="4572000"/>
          </a:xfrm>
          <a:prstGeom prst="ellipse">
            <a:avLst/>
          </a:prstGeom>
          <a:solidFill>
            <a:srgbClr val="00C8A0">
              <a:alpha val="12000"/>
            </a:srgbClr>
          </a:solidFill>
          <a:ln w="12700">
            <a:solidFill>
              <a:srgbClr val="00C8A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-914400" y="3200400"/>
            <a:ext cx="3200400" cy="3200400"/>
          </a:xfrm>
          <a:prstGeom prst="ellipse">
            <a:avLst/>
          </a:prstGeom>
          <a:solidFill>
            <a:srgbClr val="5B6EF7">
              <a:alpha val="12000"/>
            </a:srgbClr>
          </a:solidFill>
          <a:ln w="12700">
            <a:solidFill>
              <a:srgbClr val="5B6EF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00C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de Sentimentos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548640" y="173736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um Fluxo N8N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5 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3200400"/>
            <a:ext cx="1920240" cy="384048"/>
          </a:xfrm>
          <a:prstGeom prst="roundRect">
            <a:avLst>
              <a:gd name="adj" fmla="val 47619"/>
            </a:avLst>
          </a:prstGeom>
          <a:solidFill>
            <a:srgbClr val="252B48"/>
          </a:solidFill>
          <a:ln w="12700">
            <a:solidFill>
              <a:srgbClr val="00C8A0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8" name="Text 6"/>
          <p:cNvSpPr/>
          <p:nvPr/>
        </p:nvSpPr>
        <p:spPr>
          <a:xfrm>
            <a:off x="548640" y="320040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C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Camila Freitas Mendes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651760" y="3200400"/>
            <a:ext cx="1920240" cy="384048"/>
          </a:xfrm>
          <a:prstGeom prst="roundRect">
            <a:avLst>
              <a:gd name="adj" fmla="val 47619"/>
            </a:avLst>
          </a:prstGeom>
          <a:solidFill>
            <a:srgbClr val="252B48"/>
          </a:solidFill>
          <a:ln w="12700">
            <a:solidFill>
              <a:srgbClr val="00C8A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2651760" y="320040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C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João Lucas Amorim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3200400"/>
            <a:ext cx="1920240" cy="384048"/>
          </a:xfrm>
          <a:prstGeom prst="roundRect">
            <a:avLst>
              <a:gd name="adj" fmla="val 47619"/>
            </a:avLst>
          </a:prstGeom>
          <a:solidFill>
            <a:srgbClr val="252B48"/>
          </a:solidFill>
          <a:ln w="12700">
            <a:solidFill>
              <a:srgbClr val="00C8A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4754880" y="320040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C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Luan Serafim de Santana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858000" y="3200400"/>
            <a:ext cx="1920240" cy="384048"/>
          </a:xfrm>
          <a:prstGeom prst="roundRect">
            <a:avLst>
              <a:gd name="adj" fmla="val 47619"/>
            </a:avLst>
          </a:prstGeom>
          <a:solidFill>
            <a:srgbClr val="252B48"/>
          </a:solidFill>
          <a:ln w="12700">
            <a:solidFill>
              <a:srgbClr val="00C8A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6858000" y="320040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C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Luca </a:t>
            </a:r>
            <a:r>
              <a:rPr lang="en-US" sz="1100" dirty="0" err="1">
                <a:solidFill>
                  <a:srgbClr val="00C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Lordelo</a:t>
            </a:r>
            <a:r>
              <a:rPr lang="en-US" sz="1100" dirty="0">
                <a:solidFill>
                  <a:srgbClr val="00C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00C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Garboggini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F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Análise de Sentimentos?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C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Conceito, funcionamento e aplicações reais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1097280" cy="64008"/>
          </a:xfrm>
          <a:prstGeom prst="roundRect">
            <a:avLst>
              <a:gd name="adj" fmla="val 42857"/>
            </a:avLst>
          </a:prstGeom>
          <a:solidFill>
            <a:srgbClr val="00C8A0"/>
          </a:solidFill>
          <a:ln w="12700">
            <a:solidFill>
              <a:srgbClr val="00C8A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8412480" cy="960120"/>
          </a:xfrm>
          <a:prstGeom prst="roundRect">
            <a:avLst>
              <a:gd name="adj" fmla="val 11429"/>
            </a:avLst>
          </a:prstGeom>
          <a:solidFill>
            <a:srgbClr val="222846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27000" dist="381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594360" y="1325880"/>
            <a:ext cx="7955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de Sentimentos é uma técnica de NLP (Processamento de Linguagem Natural) que usa Inteligência Artificial para identificar e classificar automaticamente a emoção ou opinião expressa em um texto.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2377440"/>
            <a:ext cx="4160520" cy="1143000"/>
          </a:xfrm>
          <a:prstGeom prst="roundRect">
            <a:avLst>
              <a:gd name="adj" fmla="val 9600"/>
            </a:avLst>
          </a:prstGeom>
          <a:solidFill>
            <a:srgbClr val="252B48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27000" dist="381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502920" y="24871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💬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143000" y="2487168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Atendimento ao Cliente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43000" y="283464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 clientes insatisfeitos em tempo real para priorizar o suporte e evitar cancelamentos.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09160" y="2377440"/>
            <a:ext cx="4160520" cy="1143000"/>
          </a:xfrm>
          <a:prstGeom prst="roundRect">
            <a:avLst>
              <a:gd name="adj" fmla="val 9600"/>
            </a:avLst>
          </a:prstGeom>
          <a:solidFill>
            <a:srgbClr val="252B48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27000" dist="381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4846320" y="24871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📱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5486400" y="2487168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 Sociais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0" y="283464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Monitora menções a uma marca e classifica se o buzz é positivo, negativo ou neutro.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3675888"/>
            <a:ext cx="4160520" cy="1143000"/>
          </a:xfrm>
          <a:prstGeom prst="roundRect">
            <a:avLst>
              <a:gd name="adj" fmla="val 9600"/>
            </a:avLst>
          </a:prstGeom>
          <a:solidFill>
            <a:srgbClr val="252B48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27000" dist="381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502920" y="378561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⭐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143000" y="3785616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Avaliações de Produtos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43000" y="4133088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Analisa centenas de reviews automaticamente para extrair insights sem ler cada comentário.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09160" y="3675888"/>
            <a:ext cx="4160520" cy="1143000"/>
          </a:xfrm>
          <a:prstGeom prst="roundRect">
            <a:avLst>
              <a:gd name="adj" fmla="val 9600"/>
            </a:avLst>
          </a:prstGeom>
          <a:solidFill>
            <a:srgbClr val="252B48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27000" dist="381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4846320" y="378561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5486400" y="3785616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Pesquisas de Mercado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0" y="4133088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Processa respostas abertas de pesquisas e agrupa por sentimento para análise rápida.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F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funciona na prática?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C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texto bruto à classificação automática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1097280" cy="64008"/>
          </a:xfrm>
          <a:prstGeom prst="roundRect">
            <a:avLst>
              <a:gd name="adj" fmla="val 42857"/>
            </a:avLst>
          </a:prstGeom>
          <a:solidFill>
            <a:srgbClr val="00C8A0"/>
          </a:solidFill>
          <a:ln w="12700">
            <a:solidFill>
              <a:srgbClr val="00C8A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365760" y="1261872"/>
            <a:ext cx="8412480" cy="658368"/>
          </a:xfrm>
          <a:prstGeom prst="roundRect">
            <a:avLst>
              <a:gd name="adj" fmla="val 16667"/>
            </a:avLst>
          </a:prstGeom>
          <a:solidFill>
            <a:srgbClr val="1E2440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27000" dist="381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502920" y="1371600"/>
            <a:ext cx="438912" cy="438912"/>
          </a:xfrm>
          <a:prstGeom prst="ellipse">
            <a:avLst/>
          </a:prstGeom>
          <a:solidFill>
            <a:srgbClr val="00C8A0"/>
          </a:solidFill>
          <a:ln w="12700">
            <a:solidFill>
              <a:srgbClr val="00C8A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502920" y="13716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78992" y="135331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 de entrada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78992" y="16459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Usuário digita uma mensagem em linguagem natural no chat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011680"/>
            <a:ext cx="8412480" cy="658368"/>
          </a:xfrm>
          <a:prstGeom prst="roundRect">
            <a:avLst>
              <a:gd name="adj" fmla="val 16667"/>
            </a:avLst>
          </a:prstGeom>
          <a:solidFill>
            <a:srgbClr val="1A2035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27000" dist="381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502920" y="2121408"/>
            <a:ext cx="438912" cy="438912"/>
          </a:xfrm>
          <a:prstGeom prst="ellipse">
            <a:avLst/>
          </a:prstGeom>
          <a:solidFill>
            <a:srgbClr val="5B6EF7"/>
          </a:solidFill>
          <a:ln w="12700">
            <a:solidFill>
              <a:srgbClr val="5B6EF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502920" y="212140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78992" y="21031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B6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Envio para IA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78992" y="23957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N8N envia o texto para a API do DeepSeek via nó AI Agent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2761488"/>
            <a:ext cx="8412480" cy="658368"/>
          </a:xfrm>
          <a:prstGeom prst="roundRect">
            <a:avLst>
              <a:gd name="adj" fmla="val 16667"/>
            </a:avLst>
          </a:prstGeom>
          <a:solidFill>
            <a:srgbClr val="1E2440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27000" dist="381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502920" y="2871216"/>
            <a:ext cx="438912" cy="438912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502920" y="287121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78992" y="285292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Processamento NLP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78992" y="314553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modelo analisa o contexto, as palavras e o tom da mensagem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3511296"/>
            <a:ext cx="8412480" cy="658368"/>
          </a:xfrm>
          <a:prstGeom prst="roundRect">
            <a:avLst>
              <a:gd name="adj" fmla="val 16667"/>
            </a:avLst>
          </a:prstGeom>
          <a:solidFill>
            <a:srgbClr val="1A2035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27000" dist="381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502920" y="3621024"/>
            <a:ext cx="438912" cy="438912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502920" y="36210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78992" y="3602736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Classificação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78992" y="389534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Retorna exatamente uma palavra: POSITIVO, NEGATIVO ou NEUTRO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" y="4261104"/>
            <a:ext cx="8412480" cy="658368"/>
          </a:xfrm>
          <a:prstGeom prst="roundRect">
            <a:avLst>
              <a:gd name="adj" fmla="val 16667"/>
            </a:avLst>
          </a:prstGeom>
          <a:solidFill>
            <a:srgbClr val="1E2440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27000" dist="381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6" name="Shape 24"/>
          <p:cNvSpPr/>
          <p:nvPr/>
        </p:nvSpPr>
        <p:spPr>
          <a:xfrm>
            <a:off x="502920" y="4370832"/>
            <a:ext cx="438912" cy="438912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Text 25"/>
          <p:cNvSpPr/>
          <p:nvPr/>
        </p:nvSpPr>
        <p:spPr>
          <a:xfrm>
            <a:off x="502920" y="437083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078992" y="435254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Ação automática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078992" y="464515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N8N usa o resultado para bifurcar o fluxo e tomar a decisão certa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F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Implementação no N8N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C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do fluxo com análise de sentimentos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1097280" cy="64008"/>
          </a:xfrm>
          <a:prstGeom prst="roundRect">
            <a:avLst>
              <a:gd name="adj" fmla="val 42857"/>
            </a:avLst>
          </a:prstGeom>
          <a:solidFill>
            <a:srgbClr val="00C8A0"/>
          </a:solidFill>
          <a:ln w="12700">
            <a:solidFill>
              <a:srgbClr val="00C8A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274320" y="1261872"/>
            <a:ext cx="1600200" cy="1874520"/>
          </a:xfrm>
          <a:prstGeom prst="roundRect">
            <a:avLst>
              <a:gd name="adj" fmla="val 6857"/>
            </a:avLst>
          </a:prstGeom>
          <a:solidFill>
            <a:srgbClr val="252B48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27000" dist="381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347472" y="1371600"/>
            <a:ext cx="14538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0C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47472" y="1993392"/>
            <a:ext cx="145389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Gatilho: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mensagem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usuário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911096" y="2029968"/>
            <a:ext cx="146304" cy="347472"/>
          </a:xfrm>
          <a:prstGeom prst="rightArrow">
            <a:avLst/>
          </a:prstGeom>
          <a:solidFill>
            <a:srgbClr val="00C8A0"/>
          </a:solidFill>
          <a:ln w="12700">
            <a:solidFill>
              <a:srgbClr val="00C8A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2039112" y="1261872"/>
            <a:ext cx="1600200" cy="1874520"/>
          </a:xfrm>
          <a:prstGeom prst="roundRect">
            <a:avLst>
              <a:gd name="adj" fmla="val 6857"/>
            </a:avLst>
          </a:prstGeom>
          <a:solidFill>
            <a:srgbClr val="252B48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27000" dist="381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2112264" y="1371600"/>
            <a:ext cx="14538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B6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5B6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(DeepSeek)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112264" y="1993392"/>
            <a:ext cx="145389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sentimento: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POS/NEG/NEU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75888" y="2029968"/>
            <a:ext cx="146304" cy="347472"/>
          </a:xfrm>
          <a:prstGeom prst="rightArrow">
            <a:avLst/>
          </a:prstGeom>
          <a:solidFill>
            <a:srgbClr val="00C8A0"/>
          </a:solidFill>
          <a:ln w="12700">
            <a:solidFill>
              <a:srgbClr val="00C8A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3803904" y="1261872"/>
            <a:ext cx="1600200" cy="1874520"/>
          </a:xfrm>
          <a:prstGeom prst="roundRect">
            <a:avLst>
              <a:gd name="adj" fmla="val 6857"/>
            </a:avLst>
          </a:prstGeom>
          <a:solidFill>
            <a:srgbClr val="252B48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27000" dist="381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3877056" y="1371600"/>
            <a:ext cx="14538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NEGATIVO?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877056" y="1993392"/>
            <a:ext cx="145389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Condição: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==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NEGATIVO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40680" y="2029968"/>
            <a:ext cx="146304" cy="347472"/>
          </a:xfrm>
          <a:prstGeom prst="rightArrow">
            <a:avLst/>
          </a:prstGeom>
          <a:solidFill>
            <a:srgbClr val="00C8A0"/>
          </a:solidFill>
          <a:ln w="12700">
            <a:solidFill>
              <a:srgbClr val="00C8A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5568696" y="1261872"/>
            <a:ext cx="1600200" cy="1874520"/>
          </a:xfrm>
          <a:prstGeom prst="roundRect">
            <a:avLst>
              <a:gd name="adj" fmla="val 6857"/>
            </a:avLst>
          </a:prstGeom>
          <a:solidFill>
            <a:srgbClr val="252B48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27000" dist="381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5641848" y="1371600"/>
            <a:ext cx="14538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 🚨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641848" y="1993392"/>
            <a:ext cx="145389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Gmail: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e-mail de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205472" y="2029968"/>
            <a:ext cx="146304" cy="347472"/>
          </a:xfrm>
          <a:prstGeom prst="rightArrow">
            <a:avLst/>
          </a:prstGeom>
          <a:solidFill>
            <a:srgbClr val="00C8A0"/>
          </a:solidFill>
          <a:ln w="12700">
            <a:solidFill>
              <a:srgbClr val="00C8A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7333488" y="1261872"/>
            <a:ext cx="1600200" cy="1874520"/>
          </a:xfrm>
          <a:prstGeom prst="roundRect">
            <a:avLst>
              <a:gd name="adj" fmla="val 6857"/>
            </a:avLst>
          </a:prstGeom>
          <a:solidFill>
            <a:srgbClr val="252B48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27000" dist="381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7406640" y="1371600"/>
            <a:ext cx="14538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✅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406640" y="1993392"/>
            <a:ext cx="145389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Continua: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normal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vendas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331012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Modelo usado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377440" y="3310128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 Chat via nó AI Agent do N8N — temperatura 0 para respostas determinísticas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57200" y="374904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 Prompt instrucional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377440" y="374904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"Responda OBRIGATORIAMENTE com apenas uma dessas três palavras em caixa alta: POSITIVO, NEGATIVO ou NEUTRO"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57200" y="418795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Nó IF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377440" y="4187952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Condição: `$json.output == 'NEGATIVO'` — true vai para alerta, false continua o fluxo normal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57200" y="462686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  Ação negativa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377440" y="4626864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Gmail envia e-mail automático ao administrador + resposta de suporte é exibida no chat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F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Demonstração — Dois Cenários Distintos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C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Mostrando que o fluxo trata cada caso de forma diferente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1097280" cy="64008"/>
          </a:xfrm>
          <a:prstGeom prst="roundRect">
            <a:avLst>
              <a:gd name="adj" fmla="val 42857"/>
            </a:avLst>
          </a:prstGeom>
          <a:solidFill>
            <a:srgbClr val="00C8A0"/>
          </a:solidFill>
          <a:ln w="12700">
            <a:solidFill>
              <a:srgbClr val="00C8A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4160520" cy="3520440"/>
          </a:xfrm>
          <a:prstGeom prst="roundRect">
            <a:avLst>
              <a:gd name="adj" fmla="val 3117"/>
            </a:avLst>
          </a:prstGeom>
          <a:solidFill>
            <a:srgbClr val="0D2218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27000" dist="381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548640" y="135331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😊  Cenário Positivo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3749040" cy="658368"/>
          </a:xfrm>
          <a:prstGeom prst="roundRect">
            <a:avLst>
              <a:gd name="adj" fmla="val 13889"/>
            </a:avLst>
          </a:prstGeom>
          <a:solidFill>
            <a:srgbClr val="142E20"/>
          </a:solidFill>
          <a:ln w="1270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685800" y="1901952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"Adorei o produto! Chegou antes do prazo e a qualidade é incrível!"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263347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 retorna: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944368"/>
            <a:ext cx="3749040" cy="457200"/>
          </a:xfrm>
          <a:prstGeom prst="roundRect">
            <a:avLst>
              <a:gd name="adj" fmla="val 16000"/>
            </a:avLst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548640" y="294436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POSITIVO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48640" y="3520440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IF: false → Fluxo normal de vendas continua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Usuário pode registrar ou consultar dados normalmente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17720" y="1234440"/>
            <a:ext cx="4160520" cy="3520440"/>
          </a:xfrm>
          <a:prstGeom prst="roundRect">
            <a:avLst>
              <a:gd name="adj" fmla="val 3117"/>
            </a:avLst>
          </a:prstGeom>
          <a:solidFill>
            <a:srgbClr val="2A0D15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27000" dist="381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4800600" y="135331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😡  Cenário Negativo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800600" y="1828800"/>
            <a:ext cx="3749040" cy="658368"/>
          </a:xfrm>
          <a:prstGeom prst="roundRect">
            <a:avLst>
              <a:gd name="adj" fmla="val 13889"/>
            </a:avLst>
          </a:prstGeom>
          <a:solidFill>
            <a:srgbClr val="3D0D15"/>
          </a:solidFill>
          <a:ln w="127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4937760" y="1901952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"Péssimo atendimento! Produto chegou quebrado e ninguém responde!"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00600" y="263347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 retorna: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00600" y="2944368"/>
            <a:ext cx="3749040" cy="457200"/>
          </a:xfrm>
          <a:prstGeom prst="roundRect">
            <a:avLst>
              <a:gd name="adj" fmla="val 16000"/>
            </a:avLst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4800600" y="294436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NEGATIVO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800600" y="3520440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IF: true → Gmail envia alerta ao administrador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Chat responde com mensagem de suporte ao cliente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F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Limitações e Conclusão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C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crítica do método implementado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1097280" cy="64008"/>
          </a:xfrm>
          <a:prstGeom prst="roundRect">
            <a:avLst>
              <a:gd name="adj" fmla="val 42857"/>
            </a:avLst>
          </a:prstGeom>
          <a:solidFill>
            <a:srgbClr val="00C8A0"/>
          </a:solidFill>
          <a:ln w="12700">
            <a:solidFill>
              <a:srgbClr val="00C8A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4160520" cy="1261872"/>
          </a:xfrm>
          <a:prstGeom prst="roundRect">
            <a:avLst>
              <a:gd name="adj" fmla="val 8696"/>
            </a:avLst>
          </a:prstGeom>
          <a:solidFill>
            <a:srgbClr val="252B48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27000" dist="381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502920" y="13441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🎭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143000" y="1344168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Ironia e Sarcasmo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43000" y="1691640"/>
            <a:ext cx="3246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"Que ótimo, meu produto chegou destruído!" pode ser classificado como POSITIVO pela palavra 'ótimo', enganando o modelo.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09160" y="1234440"/>
            <a:ext cx="4160520" cy="1261872"/>
          </a:xfrm>
          <a:prstGeom prst="roundRect">
            <a:avLst>
              <a:gd name="adj" fmla="val 8696"/>
            </a:avLst>
          </a:prstGeom>
          <a:solidFill>
            <a:srgbClr val="252B48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27000" dist="381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4846320" y="13441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🌍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5486400" y="1344168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Cultural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0" y="1691640"/>
            <a:ext cx="3246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Expressões regionais e gírias podem não ser interpretadas corretamente, gerando classificações erradas.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5760" y="2651760"/>
            <a:ext cx="4160520" cy="1261872"/>
          </a:xfrm>
          <a:prstGeom prst="roundRect">
            <a:avLst>
              <a:gd name="adj" fmla="val 8696"/>
            </a:avLst>
          </a:prstGeom>
          <a:solidFill>
            <a:srgbClr val="252B48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27000" dist="381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502920" y="27614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🌐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143000" y="2761488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Dependência de API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43000" y="3108960"/>
            <a:ext cx="3246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conexão com a internet ou se a API do DeepSeek ficar offline, o fluxo para de funcionar.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709160" y="2651760"/>
            <a:ext cx="4160520" cy="1261872"/>
          </a:xfrm>
          <a:prstGeom prst="roundRect">
            <a:avLst>
              <a:gd name="adj" fmla="val 8696"/>
            </a:avLst>
          </a:prstGeom>
          <a:solidFill>
            <a:srgbClr val="252B48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27000" dist="381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4846320" y="27614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⚖️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5486400" y="2761488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Decisão de design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0" y="3108960"/>
            <a:ext cx="3246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Positivo e Neutro seguem o mesmo caminho — decisão intencional, pois só o Negativo exige ação imediata.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65760" y="4224528"/>
            <a:ext cx="8412480" cy="685800"/>
          </a:xfrm>
          <a:prstGeom prst="roundRect">
            <a:avLst>
              <a:gd name="adj" fmla="val 16000"/>
            </a:avLst>
          </a:prstGeom>
          <a:solidFill>
            <a:srgbClr val="0D1E2E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27000" dist="381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594360" y="431596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Conclusão: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057400" y="4315968"/>
            <a:ext cx="6492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análise de sentimentos foi implementada com sucesso no N8N usando a API do DeepSeek. O fluxo classifica mensagens automaticamente e toma ações diferentes para cada caso, demonstrando como IA pode ser incorporada em automações reais de forma prática e eficiente.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751</Words>
  <Application>Microsoft Office PowerPoint</Application>
  <PresentationFormat>On-screen Show (16:9)</PresentationFormat>
  <Paragraphs>114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Camila Mendes</cp:lastModifiedBy>
  <cp:revision>2</cp:revision>
  <dcterms:created xsi:type="dcterms:W3CDTF">2026-06-10T21:25:13Z</dcterms:created>
  <dcterms:modified xsi:type="dcterms:W3CDTF">2026-06-10T21:31:36Z</dcterms:modified>
</cp:coreProperties>
</file>