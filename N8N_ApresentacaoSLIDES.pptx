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3" d="100"/>
          <a:sy n="143" d="100"/>
        </p:scale>
        <p:origin x="102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553390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Slide de capa. Apresente o grupo e o tema: N8N é uma plataforma de automação de código aberto usada neste projeto.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que o N8N nasceu em 2019 e se popularizou por ser self-hosted, gratuito e com mais de 400 integrações nativas.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exemplos do cotidiano da empresa. Deixe os integrantes comentarem quais casos mais os surpreenderam.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Destaque que o N8N ser open-source e self-hosted é a grande vantagem para projetos acadêmicos e empresas que precisam de privacidade total dos dados.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este fluxo como exemplo completo. Explique cada etapa e o motivo da bifurcação.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Durante a demonstração, abra o URL do webhook no browser e mostre a resposta em tempo real.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os dois fluxos em funcionamento. Para o Telegram, abra o chat do bot no celular e dispare o webhook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Demonstre ao vivo: envie um POST para o webhook e mostre o e-mail chegando na caixa de entrada.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Explique a lógica do IF com Regex: palavras como 'quanto', 'quais', 'histórico' vão para Consulta; qualquer outra mensagem vai para Inserção. Mostre os dois cenários ao vivo.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Mostre dois exemplos ao vivo: 'Adorei o atendimento, vocês são incríveis!' (positivo) e 'Péssima experiência, nunca mais volto.' (negativo). Explique como o IF node trata cada caso diferente.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Encerre com entusiasmo. Abra para perguntas. Todos os integrantes devem estar preparados para responder.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1097280"/>
            <a:ext cx="4114800" cy="4114800"/>
          </a:xfrm>
          <a:prstGeom prst="ellipse">
            <a:avLst/>
          </a:prstGeom>
          <a:solidFill>
            <a:srgbClr val="00C8A0">
              <a:alpha val="18000"/>
            </a:srgbClr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Shape 1"/>
          <p:cNvSpPr/>
          <p:nvPr/>
        </p:nvSpPr>
        <p:spPr>
          <a:xfrm>
            <a:off x="-914400" y="3200400"/>
            <a:ext cx="3200400" cy="3200400"/>
          </a:xfrm>
          <a:prstGeom prst="ellipse">
            <a:avLst/>
          </a:prstGeom>
          <a:solidFill>
            <a:srgbClr val="00A882">
              <a:alpha val="12000"/>
            </a:srgbClr>
          </a:solidFill>
          <a:ln w="12700">
            <a:solidFill>
              <a:srgbClr val="00A8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8046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8000" dirty="0"/>
          </a:p>
        </p:txBody>
      </p:sp>
      <p:sp>
        <p:nvSpPr>
          <p:cNvPr id="5" name="Text 3"/>
          <p:cNvSpPr/>
          <p:nvPr/>
        </p:nvSpPr>
        <p:spPr>
          <a:xfrm>
            <a:off x="548640" y="2331720"/>
            <a:ext cx="8046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de Fluxos de Trabalho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48640" y="2999232"/>
            <a:ext cx="8046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Exploração Digital e Fundamentos Tecnológicos — Projeto Final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4864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João Lucas Amorim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651760" y="406908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5176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Camila Freitas Mendes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54880" y="406908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475488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Lucas </a:t>
            </a:r>
            <a:r>
              <a:rPr lang="en-US" sz="1100" dirty="0" err="1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Lordelo</a:t>
            </a: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Garboggini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0" y="4069080"/>
            <a:ext cx="1920240" cy="384048"/>
          </a:xfrm>
          <a:prstGeom prst="roundRect">
            <a:avLst>
              <a:gd name="adj" fmla="val 47619"/>
            </a:avLst>
          </a:prstGeom>
          <a:solidFill>
            <a:srgbClr val="252B48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858000" y="40690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Luan Serafim de Santana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N8N?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de automação visual, open-source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411480" y="1261872"/>
            <a:ext cx="8321040" cy="1170432"/>
          </a:xfrm>
          <a:prstGeom prst="roundRect">
            <a:avLst>
              <a:gd name="adj" fmla="val 9375"/>
            </a:avLst>
          </a:prstGeom>
          <a:solidFill>
            <a:srgbClr val="22284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79552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é uma plataforma de automação de fluxos de trabalho (workflow automation) de código aberto que permite conectar sistemas, APIs e serviços usando uma interface visual baseada em nós (nodes) — sem necessidade de programação avançada.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2633472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594360" y="2724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(Node)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94360" y="30723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bloco funcional do fluxo. Pode ser um gatilho, uma ação ou uma transformação de dados.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73168" y="2633472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1" name="Text 9"/>
          <p:cNvSpPr/>
          <p:nvPr/>
        </p:nvSpPr>
        <p:spPr>
          <a:xfrm>
            <a:off x="4956048" y="272491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(Workflow)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956048" y="307238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Conjunto de nós conectados que definem a lógica de automação de ponta a ponta.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11480" y="379476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94360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Gatilho (Trigger)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94360" y="42336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Evento que inicia o fluxo: webhook, agendamento, e-mail recebido, etc.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73168" y="3794760"/>
            <a:ext cx="4160520" cy="1051560"/>
          </a:xfrm>
          <a:prstGeom prst="roundRect">
            <a:avLst>
              <a:gd name="adj" fmla="val 10435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7" name="Text 15"/>
          <p:cNvSpPr/>
          <p:nvPr/>
        </p:nvSpPr>
        <p:spPr>
          <a:xfrm>
            <a:off x="4956048" y="3886200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56048" y="423367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Configurações de autenticação para integrar serviços externos (OAuth2, API Keys…).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 Reais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Onde o N8N é mais indicado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2816352" cy="1664208"/>
          </a:xfrm>
          <a:prstGeom prst="roundRect">
            <a:avLst>
              <a:gd name="adj" fmla="val 659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426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📥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38912" y="19568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Atendimento ao Cliente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38912" y="23042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web → triagem automática → abertura de ticket no Jira e notificação no Slack.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18688" y="1298448"/>
            <a:ext cx="2816352" cy="1664208"/>
          </a:xfrm>
          <a:prstGeom prst="roundRect">
            <a:avLst>
              <a:gd name="adj" fmla="val 659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355848" y="1426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📊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383280" y="19568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Automáticos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83280" y="23042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Agendamento semanal → consulta a banco de dados → envio de relatório em PDF por e-mail.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63056" y="1298448"/>
            <a:ext cx="2816352" cy="1664208"/>
          </a:xfrm>
          <a:prstGeom prst="roundRect">
            <a:avLst>
              <a:gd name="adj" fmla="val 659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300216" y="1426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🛒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327648" y="195681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327648" y="230428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Novo pedido → atualiza estoque → envia NF-e → notifica transportadora e cliente.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4320" y="3081528"/>
            <a:ext cx="2816352" cy="1664208"/>
          </a:xfrm>
          <a:prstGeom prst="roundRect">
            <a:avLst>
              <a:gd name="adj" fmla="val 659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11480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📱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38912" y="373989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Monitoramento de Redes Sociais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38912" y="4087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Coleta menções → análise de sentimento → alerta equipe de marketing em tempo real.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218688" y="3081528"/>
            <a:ext cx="2816352" cy="1664208"/>
          </a:xfrm>
          <a:prstGeom prst="roundRect">
            <a:avLst>
              <a:gd name="adj" fmla="val 659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355848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383280" y="373989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Sincronização de Dados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3383280" y="4087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CRM (Salesforce) com planilha Google Sheets a cada hora automaticamente.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3081528"/>
            <a:ext cx="2816352" cy="1664208"/>
          </a:xfrm>
          <a:prstGeom prst="roundRect">
            <a:avLst>
              <a:gd name="adj" fmla="val 659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6300216" y="32095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🤖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327648" y="3739896"/>
            <a:ext cx="2514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com IA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327648" y="4087368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Texto recebido → OpenAI classifica e resume → resultado armazenado e notificado.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vs Concorrentes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com Zapier e Make (Integromat)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2651760" cy="402336"/>
          </a:xfrm>
          <a:prstGeom prst="roundRect">
            <a:avLst>
              <a:gd name="adj" fmla="val 11364"/>
            </a:avLst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65760" y="126187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999232" y="1261872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3044952" y="1261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956048" y="1261872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5001768" y="1261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Zapier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912864" y="1261872"/>
            <a:ext cx="1920240" cy="402336"/>
          </a:xfrm>
          <a:prstGeom prst="roundRect">
            <a:avLst>
              <a:gd name="adj" fmla="val 11364"/>
            </a:avLst>
          </a:prstGeom>
          <a:solidFill>
            <a:srgbClr val="00A882"/>
          </a:solidFill>
          <a:ln w="12700">
            <a:solidFill>
              <a:srgbClr val="00A882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6958584" y="1261872"/>
            <a:ext cx="18288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0040" y="1664208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393192" y="166420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Aberto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99232" y="1664208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072384" y="166420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956048" y="1664208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5029200" y="166420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912864" y="1664208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6986016" y="166420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20040" y="2066544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2" name="Text 20"/>
          <p:cNvSpPr/>
          <p:nvPr/>
        </p:nvSpPr>
        <p:spPr>
          <a:xfrm>
            <a:off x="393192" y="2066544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Self-hosted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999232" y="2066544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3072384" y="206654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956048" y="2066544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6" name="Text 24"/>
          <p:cNvSpPr/>
          <p:nvPr/>
        </p:nvSpPr>
        <p:spPr>
          <a:xfrm>
            <a:off x="5029200" y="206654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912864" y="2066544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8" name="Text 26"/>
          <p:cNvSpPr/>
          <p:nvPr/>
        </p:nvSpPr>
        <p:spPr>
          <a:xfrm>
            <a:off x="6986016" y="206654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Não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2468880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393192" y="246888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999232" y="2468880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2" name="Text 30"/>
          <p:cNvSpPr/>
          <p:nvPr/>
        </p:nvSpPr>
        <p:spPr>
          <a:xfrm>
            <a:off x="3072384" y="24688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Gratuito*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4956048" y="2468880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4" name="Text 32"/>
          <p:cNvSpPr/>
          <p:nvPr/>
        </p:nvSpPr>
        <p:spPr>
          <a:xfrm>
            <a:off x="5029200" y="24688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$20/mês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912864" y="2468880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6" name="Text 34"/>
          <p:cNvSpPr/>
          <p:nvPr/>
        </p:nvSpPr>
        <p:spPr>
          <a:xfrm>
            <a:off x="6986016" y="246888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partir $9/mês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0040" y="2871216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8" name="Text 36"/>
          <p:cNvSpPr/>
          <p:nvPr/>
        </p:nvSpPr>
        <p:spPr>
          <a:xfrm>
            <a:off x="393192" y="2871216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2999232" y="2871216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0" name="Text 38"/>
          <p:cNvSpPr/>
          <p:nvPr/>
        </p:nvSpPr>
        <p:spPr>
          <a:xfrm>
            <a:off x="3072384" y="287121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Visual/Nós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4956048" y="2871216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2" name="Text 40"/>
          <p:cNvSpPr/>
          <p:nvPr/>
        </p:nvSpPr>
        <p:spPr>
          <a:xfrm>
            <a:off x="5029200" y="287121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6912864" y="2871216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4" name="Text 42"/>
          <p:cNvSpPr/>
          <p:nvPr/>
        </p:nvSpPr>
        <p:spPr>
          <a:xfrm>
            <a:off x="6986016" y="2871216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Visual/Módulos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320040" y="3273552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6" name="Text 44"/>
          <p:cNvSpPr/>
          <p:nvPr/>
        </p:nvSpPr>
        <p:spPr>
          <a:xfrm>
            <a:off x="393192" y="327355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 Integrações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2999232" y="3273552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48" name="Text 46"/>
          <p:cNvSpPr/>
          <p:nvPr/>
        </p:nvSpPr>
        <p:spPr>
          <a:xfrm>
            <a:off x="3072384" y="32735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4956048" y="3273552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0" name="Text 48"/>
          <p:cNvSpPr/>
          <p:nvPr/>
        </p:nvSpPr>
        <p:spPr>
          <a:xfrm>
            <a:off x="5029200" y="32735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6.000+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6912864" y="3273552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2" name="Text 50"/>
          <p:cNvSpPr/>
          <p:nvPr/>
        </p:nvSpPr>
        <p:spPr>
          <a:xfrm>
            <a:off x="6986016" y="3273552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1.000+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320040" y="3675888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4" name="Text 52"/>
          <p:cNvSpPr/>
          <p:nvPr/>
        </p:nvSpPr>
        <p:spPr>
          <a:xfrm>
            <a:off x="393192" y="3675888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de Código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2999232" y="3675888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6" name="Text 54"/>
          <p:cNvSpPr/>
          <p:nvPr/>
        </p:nvSpPr>
        <p:spPr>
          <a:xfrm>
            <a:off x="3072384" y="367588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Sim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4956048" y="3675888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8" name="Text 56"/>
          <p:cNvSpPr/>
          <p:nvPr/>
        </p:nvSpPr>
        <p:spPr>
          <a:xfrm>
            <a:off x="5029200" y="367588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Limitado</a:t>
            </a:r>
            <a:endParaRPr lang="en-US" sz="1100" dirty="0"/>
          </a:p>
        </p:txBody>
      </p:sp>
      <p:sp>
        <p:nvSpPr>
          <p:cNvPr id="59" name="Shape 57"/>
          <p:cNvSpPr/>
          <p:nvPr/>
        </p:nvSpPr>
        <p:spPr>
          <a:xfrm>
            <a:off x="6912864" y="3675888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0" name="Text 58"/>
          <p:cNvSpPr/>
          <p:nvPr/>
        </p:nvSpPr>
        <p:spPr>
          <a:xfrm>
            <a:off x="6986016" y="3675888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Limitado</a:t>
            </a:r>
            <a:endParaRPr lang="en-US" sz="1100" dirty="0"/>
          </a:p>
        </p:txBody>
      </p:sp>
      <p:sp>
        <p:nvSpPr>
          <p:cNvPr id="61" name="Shape 59"/>
          <p:cNvSpPr/>
          <p:nvPr/>
        </p:nvSpPr>
        <p:spPr>
          <a:xfrm>
            <a:off x="320040" y="4078224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2" name="Text 60"/>
          <p:cNvSpPr/>
          <p:nvPr/>
        </p:nvSpPr>
        <p:spPr>
          <a:xfrm>
            <a:off x="393192" y="4078224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Escalabilidade</a:t>
            </a:r>
            <a:endParaRPr lang="en-US" sz="1100" dirty="0"/>
          </a:p>
        </p:txBody>
      </p:sp>
      <p:sp>
        <p:nvSpPr>
          <p:cNvPr id="63" name="Shape 61"/>
          <p:cNvSpPr/>
          <p:nvPr/>
        </p:nvSpPr>
        <p:spPr>
          <a:xfrm>
            <a:off x="2999232" y="4078224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4" name="Text 62"/>
          <p:cNvSpPr/>
          <p:nvPr/>
        </p:nvSpPr>
        <p:spPr>
          <a:xfrm>
            <a:off x="3072384" y="40782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4956048" y="4078224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6" name="Text 64"/>
          <p:cNvSpPr/>
          <p:nvPr/>
        </p:nvSpPr>
        <p:spPr>
          <a:xfrm>
            <a:off x="5029200" y="40782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1100" dirty="0"/>
          </a:p>
        </p:txBody>
      </p:sp>
      <p:sp>
        <p:nvSpPr>
          <p:cNvPr id="67" name="Shape 65"/>
          <p:cNvSpPr/>
          <p:nvPr/>
        </p:nvSpPr>
        <p:spPr>
          <a:xfrm>
            <a:off x="6912864" y="4078224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68" name="Text 66"/>
          <p:cNvSpPr/>
          <p:nvPr/>
        </p:nvSpPr>
        <p:spPr>
          <a:xfrm>
            <a:off x="6986016" y="4078224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 dirty="0"/>
          </a:p>
        </p:txBody>
      </p:sp>
      <p:sp>
        <p:nvSpPr>
          <p:cNvPr id="69" name="Shape 67"/>
          <p:cNvSpPr/>
          <p:nvPr/>
        </p:nvSpPr>
        <p:spPr>
          <a:xfrm>
            <a:off x="320040" y="4480560"/>
            <a:ext cx="265176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0" name="Text 68"/>
          <p:cNvSpPr/>
          <p:nvPr/>
        </p:nvSpPr>
        <p:spPr>
          <a:xfrm>
            <a:off x="393192" y="4480560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Curva de Aprendizado</a:t>
            </a:r>
            <a:endParaRPr lang="en-US" sz="1100" dirty="0"/>
          </a:p>
        </p:txBody>
      </p:sp>
      <p:sp>
        <p:nvSpPr>
          <p:cNvPr id="71" name="Shape 69"/>
          <p:cNvSpPr/>
          <p:nvPr/>
        </p:nvSpPr>
        <p:spPr>
          <a:xfrm>
            <a:off x="2999232" y="4480560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2" name="Text 70"/>
          <p:cNvSpPr/>
          <p:nvPr/>
        </p:nvSpPr>
        <p:spPr>
          <a:xfrm>
            <a:off x="3072384" y="44805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4956048" y="4480560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4" name="Text 72"/>
          <p:cNvSpPr/>
          <p:nvPr/>
        </p:nvSpPr>
        <p:spPr>
          <a:xfrm>
            <a:off x="5029200" y="44805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</a:t>
            </a:r>
            <a:endParaRPr lang="en-US" sz="1100" dirty="0"/>
          </a:p>
        </p:txBody>
      </p:sp>
      <p:sp>
        <p:nvSpPr>
          <p:cNvPr id="75" name="Shape 73"/>
          <p:cNvSpPr/>
          <p:nvPr/>
        </p:nvSpPr>
        <p:spPr>
          <a:xfrm>
            <a:off x="6912864" y="4480560"/>
            <a:ext cx="1920240" cy="384048"/>
          </a:xfrm>
          <a:prstGeom prst="roundRect">
            <a:avLst>
              <a:gd name="adj" fmla="val 7143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6" name="Text 74"/>
          <p:cNvSpPr/>
          <p:nvPr/>
        </p:nvSpPr>
        <p:spPr>
          <a:xfrm>
            <a:off x="6986016" y="4480560"/>
            <a:ext cx="17739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Baixa-Média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320040" y="4754880"/>
            <a:ext cx="8503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 de Caso: Atendimento Inteligente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multietapa real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371600"/>
            <a:ext cx="1572768" cy="2194560"/>
          </a:xfrm>
          <a:prstGeom prst="roundRect">
            <a:avLst>
              <a:gd name="adj" fmla="val 697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Shape 4"/>
          <p:cNvSpPr/>
          <p:nvPr/>
        </p:nvSpPr>
        <p:spPr>
          <a:xfrm>
            <a:off x="768096" y="1508760"/>
            <a:ext cx="594360" cy="594360"/>
          </a:xfrm>
          <a:prstGeom prst="ellipse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7" name="Text 5"/>
          <p:cNvSpPr/>
          <p:nvPr/>
        </p:nvSpPr>
        <p:spPr>
          <a:xfrm>
            <a:off x="768096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Web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65760" y="269748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 preenche formulário de suporte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92808" y="2194560"/>
            <a:ext cx="164592" cy="50292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993392" y="1371600"/>
            <a:ext cx="1572768" cy="2194560"/>
          </a:xfrm>
          <a:prstGeom prst="roundRect">
            <a:avLst>
              <a:gd name="adj" fmla="val 697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Shape 10"/>
          <p:cNvSpPr/>
          <p:nvPr/>
        </p:nvSpPr>
        <p:spPr>
          <a:xfrm>
            <a:off x="2487168" y="1508760"/>
            <a:ext cx="594360" cy="594360"/>
          </a:xfrm>
          <a:prstGeom prst="ellipse">
            <a:avLst/>
          </a:prstGeom>
          <a:solidFill>
            <a:srgbClr val="5B6EF7"/>
          </a:solidFill>
          <a:ln w="12700">
            <a:solidFill>
              <a:srgbClr val="5B6EF7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2487168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084832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N8N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084832" y="269748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os dados via HTTP POST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11880" y="2194560"/>
            <a:ext cx="164592" cy="50292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3712464" y="1371600"/>
            <a:ext cx="1572768" cy="2194560"/>
          </a:xfrm>
          <a:prstGeom prst="roundRect">
            <a:avLst>
              <a:gd name="adj" fmla="val 697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Shape 16"/>
          <p:cNvSpPr/>
          <p:nvPr/>
        </p:nvSpPr>
        <p:spPr>
          <a:xfrm>
            <a:off x="4206240" y="1508760"/>
            <a:ext cx="594360" cy="594360"/>
          </a:xfrm>
          <a:prstGeom prst="ellipse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Text 17"/>
          <p:cNvSpPr/>
          <p:nvPr/>
        </p:nvSpPr>
        <p:spPr>
          <a:xfrm>
            <a:off x="4206240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803904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03904" y="269748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classifica urgência da mensagem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330952" y="2194560"/>
            <a:ext cx="164592" cy="50292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5431536" y="1371600"/>
            <a:ext cx="1572768" cy="2194560"/>
          </a:xfrm>
          <a:prstGeom prst="roundRect">
            <a:avLst>
              <a:gd name="adj" fmla="val 697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Shape 22"/>
          <p:cNvSpPr/>
          <p:nvPr/>
        </p:nvSpPr>
        <p:spPr>
          <a:xfrm>
            <a:off x="5925312" y="1508760"/>
            <a:ext cx="594360" cy="594360"/>
          </a:xfrm>
          <a:prstGeom prst="ellipse">
            <a:avLst/>
          </a:prstGeom>
          <a:solidFill>
            <a:srgbClr val="E94560"/>
          </a:solidFill>
          <a:ln w="12700">
            <a:solidFill>
              <a:srgbClr val="E9456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5" name="Text 23"/>
          <p:cNvSpPr/>
          <p:nvPr/>
        </p:nvSpPr>
        <p:spPr>
          <a:xfrm>
            <a:off x="5925312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22976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Bifurcação (IF)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522976" y="269748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Urgente → time imediato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→ fila padrão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7050024" y="2194560"/>
            <a:ext cx="164592" cy="50292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9" name="Shape 27"/>
          <p:cNvSpPr/>
          <p:nvPr/>
        </p:nvSpPr>
        <p:spPr>
          <a:xfrm>
            <a:off x="7150608" y="1371600"/>
            <a:ext cx="1572768" cy="2194560"/>
          </a:xfrm>
          <a:prstGeom prst="roundRect">
            <a:avLst>
              <a:gd name="adj" fmla="val 697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Shape 28"/>
          <p:cNvSpPr/>
          <p:nvPr/>
        </p:nvSpPr>
        <p:spPr>
          <a:xfrm>
            <a:off x="7644384" y="1508760"/>
            <a:ext cx="594360" cy="594360"/>
          </a:xfrm>
          <a:prstGeom prst="ellipse">
            <a:avLst/>
          </a:prstGeom>
          <a:solidFill>
            <a:srgbClr val="2EC4B6"/>
          </a:solidFill>
          <a:ln w="12700">
            <a:solidFill>
              <a:srgbClr val="2EC4B6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1" name="Text 29"/>
          <p:cNvSpPr/>
          <p:nvPr/>
        </p:nvSpPr>
        <p:spPr>
          <a:xfrm>
            <a:off x="7644384" y="150876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7242048" y="2194560"/>
            <a:ext cx="13898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em Planilha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7242048" y="2697480"/>
            <a:ext cx="138988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Salva todos os chamados no Excel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274320" y="3822192"/>
            <a:ext cx="8595360" cy="960120"/>
          </a:xfrm>
          <a:prstGeom prst="roundRect">
            <a:avLst>
              <a:gd name="adj" fmla="val 11429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5" name="Text 33"/>
          <p:cNvSpPr/>
          <p:nvPr/>
        </p:nvSpPr>
        <p:spPr>
          <a:xfrm>
            <a:off x="502920" y="393192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Resultado: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1965960" y="3931920"/>
            <a:ext cx="6675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urgentes recebem resposta em &lt; 5 min. Dados de todos os chamados ficam na planilha para análise posterior. Zero intervenção manual.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1 — Webhook → Resposta no Browser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e demonstração do fluxo existente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914400" y="137160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1051560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(Trigger)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Escuta POST/GET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/webhook/...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236976" y="2084832"/>
            <a:ext cx="438912" cy="45720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3657600" y="137160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3794760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Dados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794760" y="2331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 e formata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parâmetros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980176" y="2084832"/>
            <a:ext cx="438912" cy="45720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6400800" y="1371600"/>
            <a:ext cx="2286000" cy="1828800"/>
          </a:xfrm>
          <a:prstGeom prst="roundRect">
            <a:avLst>
              <a:gd name="adj" fmla="val 6000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6537960" y="150876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 to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537960" y="2331720"/>
            <a:ext cx="2011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Retorna JSON/HTML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browser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57200" y="3429000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Endpoint: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920240" y="3429000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URL única gerada pelo N8N (ex: https://vm.local/webhook/abc123). Qualquer cliente HTTP pode chamá-la.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57200" y="3950208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Gatilho: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920240" y="3950208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nó Webhook aguarda requisições HTTP. Ao receber, inicia automaticamente o fluxo.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4471416"/>
            <a:ext cx="13716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Resposta: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920240" y="4471416"/>
            <a:ext cx="6766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nó 'Respond to Webhook' encerra o fluxo devolvendo um status HTTP e corpo personalizado ao chamador.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2 e 3 — Webhook → Excel e → Telegram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fluxos de saída distintos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74320" y="129844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A26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57200" y="14264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Fluxo 2 — Planilha Excel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965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recebe dados via POST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02920" y="24963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'Set' formata os campos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502920" y="30266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'Excel File' grava nova linha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02920" y="35570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.xlsx atualizado na VM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50292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Utilidade: log permanente de todas as entradas recebidas pelo webhook.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754880" y="1298448"/>
            <a:ext cx="4114800" cy="3520440"/>
          </a:xfrm>
          <a:prstGeom prst="roundRect">
            <a:avLst>
              <a:gd name="adj" fmla="val 3117"/>
            </a:avLst>
          </a:prstGeom>
          <a:solidFill>
            <a:srgbClr val="1A26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3" name="Text 11"/>
          <p:cNvSpPr/>
          <p:nvPr/>
        </p:nvSpPr>
        <p:spPr>
          <a:xfrm>
            <a:off x="4937760" y="1426464"/>
            <a:ext cx="3749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✈️  Fluxo 3 — Bot Telegram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1965960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recebe texto do usuário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4937760" y="2496312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'Set' prepara a mensagem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4937760" y="3026664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Credenciais do Bot configuradas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937760" y="3557016"/>
            <a:ext cx="37490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Nó 'Telegram' envia a mensagem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937760" y="4114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Necessário: criar bot via @BotFather e inserir o token nas credenciais do N8N.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com Gmail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Adaptação do fluxo Telegram para envio de e-mail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41148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" y="21031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texto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 POST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68296" y="1965960"/>
            <a:ext cx="164592" cy="45720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514600" y="1325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60604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Node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2606040" y="21031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Formata assunto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corpo do e-mail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562856" y="1965960"/>
            <a:ext cx="164592" cy="45720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709160" y="1325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80060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/ SMTP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800600" y="21031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 e-mail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credenciais OAuth2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757416" y="1965960"/>
            <a:ext cx="164592" cy="45720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903720" y="1325880"/>
            <a:ext cx="2011680" cy="1737360"/>
          </a:xfrm>
          <a:prstGeom prst="roundRect">
            <a:avLst>
              <a:gd name="adj" fmla="val 631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995160" y="14630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Recebido ✅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6995160" y="2103120"/>
            <a:ext cx="1828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Demonstrado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vivo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20040" y="3337560"/>
            <a:ext cx="8503920" cy="1600200"/>
          </a:xfrm>
          <a:prstGeom prst="roundRect">
            <a:avLst>
              <a:gd name="adj" fmla="val 6857"/>
            </a:avLst>
          </a:prstGeom>
          <a:solidFill>
            <a:srgbClr val="1E244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548640" y="345643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Como configurar o Gmail no N8N: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48640" y="38587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Conta Google → Segurança → Senhas de app → Gerar senha para "N8N"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48640" y="4206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No N8N: Credentials → Gmail OAuth2 (ou SMTP: smtp.gmail.com, porta 587, TLS ativado)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455371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Adicionar nó Gmail após o Set Node e personalizar {subject} e {body} com os dados do webhook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Agente de Vendas Inteligente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 original com IA via N8N + Google Sheets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228600" y="1261872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20116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 envia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em linguagem natural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322576" y="1920240"/>
            <a:ext cx="137160" cy="384048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9" name="Shape 7"/>
          <p:cNvSpPr/>
          <p:nvPr/>
        </p:nvSpPr>
        <p:spPr>
          <a:xfrm>
            <a:off x="2441448" y="1261872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2532888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(Regex)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32888" y="20116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Detecta intenção: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Consulta ou Inserção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35424" y="1920240"/>
            <a:ext cx="137160" cy="384048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3" name="Shape 11"/>
          <p:cNvSpPr/>
          <p:nvPr/>
        </p:nvSpPr>
        <p:spPr>
          <a:xfrm>
            <a:off x="4654296" y="1261872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4745736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DeepSeek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745736" y="20116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extrai dados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JSON estruturado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748272" y="1920240"/>
            <a:ext cx="137160" cy="384048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7" name="Shape 15"/>
          <p:cNvSpPr/>
          <p:nvPr/>
        </p:nvSpPr>
        <p:spPr>
          <a:xfrm>
            <a:off x="6867144" y="1261872"/>
            <a:ext cx="2057400" cy="1691640"/>
          </a:xfrm>
          <a:prstGeom prst="roundRect">
            <a:avLst>
              <a:gd name="adj" fmla="val 6486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6958584" y="1389888"/>
            <a:ext cx="18745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Sheets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958584" y="2011680"/>
            <a:ext cx="18745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Grava ou consulta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planilha de vendas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127248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1" name="Text 19"/>
          <p:cNvSpPr/>
          <p:nvPr/>
        </p:nvSpPr>
        <p:spPr>
          <a:xfrm>
            <a:off x="365760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  Tecnologias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1783080" y="32004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· DeepSeek API · LangChain · Google Sheets API · JavaScript · Regex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690872" y="3127248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4828032" y="320040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  Lógica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245352" y="320040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Mensagem → IF por Regex → Braço Inserção: IA extrai JSON (DATA, CLIENTE, PRODUTO, VALOR) → Sheets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Braço Consulta: IA lê planilha e calcula totais → responde ao usuário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" y="4087368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365760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Utilidade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783080" y="41605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Assistente de vendas autônomo: registra e consulta dados via chat, sem formulários ou planilhas manuais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690872" y="4087368"/>
            <a:ext cx="4251960" cy="868680"/>
          </a:xfrm>
          <a:prstGeom prst="roundRect">
            <a:avLst>
              <a:gd name="adj" fmla="val 12632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30" name="Text 28"/>
          <p:cNvSpPr/>
          <p:nvPr/>
        </p:nvSpPr>
        <p:spPr>
          <a:xfrm>
            <a:off x="4828032" y="4160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Diferencial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45352" y="4160520"/>
            <a:ext cx="2560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Memory mantém contexto da conversa · JavaScript limpa o JSON antes de enviar ao Sheets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Análise de Sentimentos no N8N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74980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à classificação automática de texto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078992"/>
            <a:ext cx="1097280" cy="64008"/>
          </a:xfrm>
          <a:prstGeom prst="roundRect">
            <a:avLst>
              <a:gd name="adj" fmla="val 42857"/>
            </a:avLst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822960"/>
          </a:xfrm>
          <a:prstGeom prst="roundRect">
            <a:avLst>
              <a:gd name="adj" fmla="val 13333"/>
            </a:avLst>
          </a:prstGeom>
          <a:solidFill>
            <a:srgbClr val="222846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Análise de Sentimentos é uma técnica de NLP (Processamento de Linguagem Natural) que classifica automaticamente um texto como Positivo, Negativo ou Neutro.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182880" y="2286000"/>
            <a:ext cx="1627632" cy="160020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8" name="Text 6"/>
          <p:cNvSpPr/>
          <p:nvPr/>
        </p:nvSpPr>
        <p:spPr>
          <a:xfrm>
            <a:off x="256032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56032" y="297180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Recebe texto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usuário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847088" y="2926080"/>
            <a:ext cx="146304" cy="36576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1" name="Shape 9"/>
          <p:cNvSpPr/>
          <p:nvPr/>
        </p:nvSpPr>
        <p:spPr>
          <a:xfrm>
            <a:off x="1975104" y="2286000"/>
            <a:ext cx="1627632" cy="160020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2" name="Text 10"/>
          <p:cNvSpPr/>
          <p:nvPr/>
        </p:nvSpPr>
        <p:spPr>
          <a:xfrm>
            <a:off x="2048256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NLP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5B6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(OpenAI/HF)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048256" y="297180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 sentimento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texto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39312" y="2926080"/>
            <a:ext cx="146304" cy="36576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5" name="Shape 13"/>
          <p:cNvSpPr/>
          <p:nvPr/>
        </p:nvSpPr>
        <p:spPr>
          <a:xfrm>
            <a:off x="3767328" y="2286000"/>
            <a:ext cx="1627632" cy="160020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6" name="Text 14"/>
          <p:cNvSpPr/>
          <p:nvPr/>
        </p:nvSpPr>
        <p:spPr>
          <a:xfrm>
            <a:off x="3840480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Node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840480" y="297180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Bifurca pelo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31536" y="2926080"/>
            <a:ext cx="146304" cy="36576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19" name="Shape 17"/>
          <p:cNvSpPr/>
          <p:nvPr/>
        </p:nvSpPr>
        <p:spPr>
          <a:xfrm>
            <a:off x="5559552" y="2286000"/>
            <a:ext cx="1627632" cy="160020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0" name="Text 18"/>
          <p:cNvSpPr/>
          <p:nvPr/>
        </p:nvSpPr>
        <p:spPr>
          <a:xfrm>
            <a:off x="5632704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EC4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A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32704" y="297180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 verde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223760" y="2926080"/>
            <a:ext cx="146304" cy="365760"/>
          </a:xfrm>
          <a:prstGeom prst="rightArrow">
            <a:avLst/>
          </a:prstGeom>
          <a:solidFill>
            <a:srgbClr val="00C8A0"/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23" name="Shape 21"/>
          <p:cNvSpPr/>
          <p:nvPr/>
        </p:nvSpPr>
        <p:spPr>
          <a:xfrm>
            <a:off x="7351776" y="2286000"/>
            <a:ext cx="1627632" cy="1600200"/>
          </a:xfrm>
          <a:prstGeom prst="roundRect">
            <a:avLst>
              <a:gd name="adj" fmla="val 6857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4" name="Text 22"/>
          <p:cNvSpPr/>
          <p:nvPr/>
        </p:nvSpPr>
        <p:spPr>
          <a:xfrm>
            <a:off x="7424928" y="2395728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945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Ação B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424928" y="2971800"/>
            <a:ext cx="148132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Negativo →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urgente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069080"/>
            <a:ext cx="8503920" cy="868680"/>
          </a:xfrm>
          <a:prstGeom prst="roundRect">
            <a:avLst>
              <a:gd name="adj" fmla="val 12632"/>
            </a:avLst>
          </a:prstGeom>
          <a:solidFill>
            <a:srgbClr val="2A1F30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27" name="Text 25"/>
          <p:cNvSpPr/>
          <p:nvPr/>
        </p:nvSpPr>
        <p:spPr>
          <a:xfrm>
            <a:off x="548640" y="41788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Limitações do método: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2971800" y="417880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Ironia e contexto cultural podem enganar o modelo. APIs externas exigem conexão e podem ter custos. Palavras-chave simples falham em textos complexos.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371600"/>
            <a:ext cx="5029200" cy="5029200"/>
          </a:xfrm>
          <a:prstGeom prst="ellipse">
            <a:avLst/>
          </a:prstGeom>
          <a:solidFill>
            <a:srgbClr val="00C8A0">
              <a:alpha val="12000"/>
            </a:srgbClr>
          </a:solidFill>
          <a:ln w="12700">
            <a:solidFill>
              <a:srgbClr val="00C8A0"/>
            </a:solidFill>
            <a:prstDash val="solid"/>
          </a:ln>
        </p:spPr>
        <p:txBody>
          <a:bodyPr/>
          <a:lstStyle/>
          <a:p>
            <a:endParaRPr lang="pt-BR"/>
          </a:p>
        </p:txBody>
      </p:sp>
      <p:sp>
        <p:nvSpPr>
          <p:cNvPr id="3" name="Text 1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0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Conclusão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N8N prova que automação poderosa não precisa de código complexo.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365760" y="19659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6" name="Text 4"/>
          <p:cNvSpPr/>
          <p:nvPr/>
        </p:nvSpPr>
        <p:spPr>
          <a:xfrm>
            <a:off x="5029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4300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Integrações sem barreiras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143000" y="2423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400+ serviços conectados visualmente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965960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0" name="Text 8"/>
          <p:cNvSpPr/>
          <p:nvPr/>
        </p:nvSpPr>
        <p:spPr>
          <a:xfrm>
            <a:off x="4846320" y="2075688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🔓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5486400" y="205740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Source &amp; Self-hosted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0" y="2423160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controle e privacidade dos dados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313639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4" name="Text 12"/>
          <p:cNvSpPr/>
          <p:nvPr/>
        </p:nvSpPr>
        <p:spPr>
          <a:xfrm>
            <a:off x="5029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🧠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4300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acessível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43000" y="3593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Sentimentos, resumos e NLP em poucos nós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709160" y="3136392"/>
            <a:ext cx="4114800" cy="1005840"/>
          </a:xfrm>
          <a:prstGeom prst="roundRect">
            <a:avLst>
              <a:gd name="adj" fmla="val 10909"/>
            </a:avLst>
          </a:prstGeom>
          <a:solidFill>
            <a:srgbClr val="252B48"/>
          </a:solidFill>
          <a:ln w="12700">
            <a:solidFill>
              <a:srgbClr val="FFFFFF">
                <a:alpha val="0"/>
              </a:srgbClr>
            </a:solidFill>
            <a:prstDash val="solid"/>
          </a:ln>
          <a:effectLst>
            <a:outerShdw blurRad="127000" dist="38100" dir="27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pt-BR"/>
          </a:p>
        </p:txBody>
      </p:sp>
      <p:sp>
        <p:nvSpPr>
          <p:cNvPr id="18" name="Text 16"/>
          <p:cNvSpPr/>
          <p:nvPr/>
        </p:nvSpPr>
        <p:spPr>
          <a:xfrm>
            <a:off x="4846320" y="32461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⚡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5486400" y="322783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Automação prática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3593592"/>
            <a:ext cx="3200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Fluxos reais entregues neste projeto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65760" y="4526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1342</Words>
  <Application>Microsoft Office PowerPoint</Application>
  <PresentationFormat>On-screen Show (16:9)</PresentationFormat>
  <Paragraphs>233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N8N – Automação de Fluxos de Trabalho</dc:title>
  <dc:subject>PptxGenJS Presentation</dc:subject>
  <dc:creator>PptxGenJS</dc:creator>
  <cp:lastModifiedBy>Camila Mendes</cp:lastModifiedBy>
  <cp:revision>2</cp:revision>
  <dcterms:created xsi:type="dcterms:W3CDTF">2026-06-10T18:40:00Z</dcterms:created>
  <dcterms:modified xsi:type="dcterms:W3CDTF">2026-06-10T19:24:46Z</dcterms:modified>
</cp:coreProperties>
</file>